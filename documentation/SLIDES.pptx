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4630400" cy="8229600"/>
  <p:notesSz cx="8229600" cy="14630400"/>
  <p:embeddedFontLst>
    <p:embeddedFont>
      <p:font typeface="Montserrat Light" panose="020B0604020202020204" charset="0"/>
      <p:regular r:id="rId17"/>
    </p:embeddedFont>
    <p:embeddedFont>
      <p:font typeface="Source Sans 3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Abadi" panose="020B0604020202020204" charset="0"/>
      <p:regular r:id="rId23"/>
      <p:bold r:id="rId24"/>
    </p:embeddedFont>
    <p:embeddedFont>
      <p:font typeface="Consolas" panose="020B0609020204030204" pitchFamily="49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68" autoAdjust="0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8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7645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.sv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704261"/>
            <a:ext cx="11363920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Dungeon RPG: Turn-Based Adventure Game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2404110"/>
            <a:ext cx="7111603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CE101 Object-Oriented Programming Project — Group 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3034665"/>
            <a:ext cx="129028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modular turn-based dungeon RPG designed using object-oriented programming principles across combat, map, inventory, magic, skills, loot, store, and save/load systems.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3798" y="3925491"/>
            <a:ext cx="4156948" cy="1191935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1079659" y="4141351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Abdul Aziz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79659" y="4577596"/>
            <a:ext cx="3725228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Map &amp; Game State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236607" y="3925491"/>
            <a:ext cx="4157067" cy="1191935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5452467" y="4141351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Muharib Abdullah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52467" y="4577596"/>
            <a:ext cx="3725347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Combat &amp; Entities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09534" y="3925491"/>
            <a:ext cx="4157067" cy="1191935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9825395" y="4141351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M. Ameer Suhail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825395" y="4577596"/>
            <a:ext cx="3725347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Magic System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3798" y="5333286"/>
            <a:ext cx="6343412" cy="1191935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659" y="5549146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Ahmad Siddique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79659" y="5985391"/>
            <a:ext cx="5911691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Items &amp; Equipment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423071" y="5333286"/>
            <a:ext cx="6343531" cy="1191935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7638931" y="5549146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M. Asad Rauf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638931" y="5985391"/>
            <a:ext cx="5911810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Skills &amp; Loot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92492"/>
            <a:ext cx="5047178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Problem Statement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1937861"/>
            <a:ext cx="129028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turn-based RPG requires several interconnected systems working in concert. Designing these in a procedural style would result in tightly coupled, unmaintainable code. The core challenge was to architect each subsystem as a focused, modular OOP component.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3798" y="2828687"/>
            <a:ext cx="4156948" cy="1576864"/>
          </a:xfrm>
          <a:prstGeom prst="roundRect">
            <a:avLst>
              <a:gd name="adj" fmla="val 205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0139" y="3075027"/>
            <a:ext cx="249936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World &amp; Navigation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10139" y="3511272"/>
            <a:ext cx="3664268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Dungeon map generation and distinct room types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36607" y="2828687"/>
            <a:ext cx="4157067" cy="1576864"/>
          </a:xfrm>
          <a:prstGeom prst="roundRect">
            <a:avLst>
              <a:gd name="adj" fmla="val 205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2947" y="3075027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Combat &amp; Entities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2947" y="3511272"/>
            <a:ext cx="3664387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Player and enemy turn-based battle logic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609534" y="2828687"/>
            <a:ext cx="4157067" cy="1576864"/>
          </a:xfrm>
          <a:prstGeom prst="roundRect">
            <a:avLst>
              <a:gd name="adj" fmla="val 205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55875" y="3075027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Items &amp; Economy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855875" y="3511272"/>
            <a:ext cx="3664387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Weapons, armour, potions, store interaction, and loot rewards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3798" y="4621411"/>
            <a:ext cx="6343412" cy="1252895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0139" y="4867751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Magic &amp; Skills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10139" y="5303996"/>
            <a:ext cx="5850731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Spells, status effects, skill abilities, and stat modifiers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3071" y="4621411"/>
            <a:ext cx="6343531" cy="1252895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69411" y="4867751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Persistence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669411" y="5303996"/>
            <a:ext cx="5850850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Save and load functionality via a common serialisable contract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63798" y="6117193"/>
            <a:ext cx="12902803" cy="1219914"/>
          </a:xfrm>
          <a:prstGeom prst="roundRect">
            <a:avLst>
              <a:gd name="adj" fmla="val 2656"/>
            </a:avLst>
          </a:prstGeom>
          <a:solidFill>
            <a:srgbClr val="B6D6FC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659" y="6426637"/>
            <a:ext cx="269915" cy="2158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65434" y="6386989"/>
            <a:ext cx="11985308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design goal: each class carries a single, clear responsibility — eliminating mixed logic and enabling independent testing, debugging, and extension.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382" y="554474"/>
            <a:ext cx="8587383" cy="546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Project Overview and Gameplay Flow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69382" y="1443514"/>
            <a:ext cx="13091636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player explores a procedurally generated dungeon, moves through distinct room types, engages enemies in turn-based combat, collects loot, manages an inventory, casts spells, unlocks skills, visits stores, and progresses toward a boss encounter.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051" y="2181701"/>
            <a:ext cx="12672298" cy="475523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801342" y="3392945"/>
            <a:ext cx="654577" cy="65457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218155" y="5799334"/>
            <a:ext cx="1911364" cy="3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Enter Battle</a:t>
            </a:r>
            <a:endParaRPr lang="en-US" sz="2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404977" y="3394173"/>
            <a:ext cx="654577" cy="65457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09312" y="5632008"/>
            <a:ext cx="1911364" cy="669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Room Interaction</a:t>
            </a:r>
            <a:endParaRPr lang="en-US" sz="2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009225" y="3394173"/>
            <a:ext cx="654577" cy="65457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13560" y="5799334"/>
            <a:ext cx="1911365" cy="3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Move Rooms</a:t>
            </a:r>
            <a:endParaRPr lang="en-US" sz="2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613473" y="3394173"/>
            <a:ext cx="654577" cy="65457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017808" y="5632008"/>
            <a:ext cx="1911365" cy="669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Generate Map</a:t>
            </a:r>
            <a:endParaRPr lang="en-US" sz="21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2204629" y="3394173"/>
            <a:ext cx="654577" cy="654577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569690" y="5799334"/>
            <a:ext cx="1911365" cy="3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Start</a:t>
            </a:r>
            <a:endParaRPr lang="en-US" sz="2100" dirty="0"/>
          </a:p>
        </p:txBody>
      </p:sp>
      <p:sp>
        <p:nvSpPr>
          <p:cNvPr id="15" name="Text 7"/>
          <p:cNvSpPr/>
          <p:nvPr/>
        </p:nvSpPr>
        <p:spPr>
          <a:xfrm>
            <a:off x="769382" y="7129582"/>
            <a:ext cx="13091636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4803" y="432435"/>
            <a:ext cx="5988844" cy="40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Overall UML — System Architecture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2234803" y="1435060"/>
            <a:ext cx="1860590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550009" y="1435060"/>
            <a:ext cx="1860590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11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815" y="957384"/>
            <a:ext cx="9292856" cy="6990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9382" y="1008936"/>
            <a:ext cx="6701790" cy="546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Map, Rooms, and Game State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30793" y="1812369"/>
            <a:ext cx="5910262" cy="5825252"/>
          </a:xfrm>
          <a:prstGeom prst="roundRect">
            <a:avLst>
              <a:gd name="adj" fmla="val 495"/>
            </a:avLst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823079" y="1966436"/>
            <a:ext cx="5525691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79" y="2431852"/>
            <a:ext cx="5017056" cy="501312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79431" y="2005013"/>
            <a:ext cx="3408878" cy="1420297"/>
          </a:xfrm>
          <a:prstGeom prst="roundRect">
            <a:avLst>
              <a:gd name="adj" fmla="val 772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6571" y="2005013"/>
            <a:ext cx="91440" cy="1420297"/>
          </a:xfrm>
          <a:prstGeom prst="roundRect">
            <a:avLst>
              <a:gd name="adj" fmla="val 31554"/>
            </a:avLst>
          </a:prstGeom>
          <a:solidFill>
            <a:srgbClr val="2D2E34"/>
          </a:solidFill>
          <a:ln/>
        </p:spPr>
      </p:sp>
      <p:sp>
        <p:nvSpPr>
          <p:cNvPr id="10" name="Text 7"/>
          <p:cNvSpPr/>
          <p:nvPr/>
        </p:nvSpPr>
        <p:spPr>
          <a:xfrm>
            <a:off x="7163157" y="2220158"/>
            <a:ext cx="218574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WorldGenerator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163157" y="2664619"/>
            <a:ext cx="2910007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Singleton — generates the dungeon layout once per session.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459522" y="2005013"/>
            <a:ext cx="3408998" cy="1420297"/>
          </a:xfrm>
          <a:prstGeom prst="roundRect">
            <a:avLst>
              <a:gd name="adj" fmla="val 772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436662" y="2005013"/>
            <a:ext cx="91440" cy="1420297"/>
          </a:xfrm>
          <a:prstGeom prst="roundRect">
            <a:avLst>
              <a:gd name="adj" fmla="val 31554"/>
            </a:avLst>
          </a:prstGeom>
          <a:solidFill>
            <a:srgbClr val="2D2E34"/>
          </a:solidFill>
          <a:ln/>
        </p:spPr>
      </p:sp>
      <p:sp>
        <p:nvSpPr>
          <p:cNvPr id="14" name="Text 11"/>
          <p:cNvSpPr/>
          <p:nvPr/>
        </p:nvSpPr>
        <p:spPr>
          <a:xfrm>
            <a:off x="10743248" y="2220158"/>
            <a:ext cx="249185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MapGrid + Coordinate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0743248" y="2664619"/>
            <a:ext cx="2910126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Stores Room objects; tracks player x/y position.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879431" y="3596521"/>
            <a:ext cx="3408878" cy="1420297"/>
          </a:xfrm>
          <a:prstGeom prst="roundRect">
            <a:avLst>
              <a:gd name="adj" fmla="val 772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6571" y="3596521"/>
            <a:ext cx="91440" cy="1420297"/>
          </a:xfrm>
          <a:prstGeom prst="roundRect">
            <a:avLst>
              <a:gd name="adj" fmla="val 31554"/>
            </a:avLst>
          </a:prstGeom>
          <a:solidFill>
            <a:srgbClr val="2D2E34"/>
          </a:solidFill>
          <a:ln/>
        </p:spPr>
      </p:sp>
      <p:sp>
        <p:nvSpPr>
          <p:cNvPr id="18" name="Text 15"/>
          <p:cNvSpPr/>
          <p:nvPr/>
        </p:nvSpPr>
        <p:spPr>
          <a:xfrm>
            <a:off x="7163157" y="3811667"/>
            <a:ext cx="218574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Room Hierarchy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163157" y="4256127"/>
            <a:ext cx="2910007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Room (base) → EmptyRoom / CombatRoom / SaveRoom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0459522" y="3596521"/>
            <a:ext cx="3408998" cy="1420297"/>
          </a:xfrm>
          <a:prstGeom prst="roundRect">
            <a:avLst>
              <a:gd name="adj" fmla="val 772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436662" y="3596521"/>
            <a:ext cx="91440" cy="1420297"/>
          </a:xfrm>
          <a:prstGeom prst="roundRect">
            <a:avLst>
              <a:gd name="adj" fmla="val 31554"/>
            </a:avLst>
          </a:prstGeom>
          <a:solidFill>
            <a:srgbClr val="2D2E34"/>
          </a:solidFill>
          <a:ln/>
        </p:spPr>
      </p:sp>
      <p:sp>
        <p:nvSpPr>
          <p:cNvPr id="22" name="Text 19"/>
          <p:cNvSpPr/>
          <p:nvPr/>
        </p:nvSpPr>
        <p:spPr>
          <a:xfrm>
            <a:off x="10743248" y="3811667"/>
            <a:ext cx="218574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Inventory &amp; Store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0743248" y="4256127"/>
            <a:ext cx="2910126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Inventory manages item capacity; Store handles transactions.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879431" y="5188029"/>
            <a:ext cx="3408878" cy="1420297"/>
          </a:xfrm>
          <a:prstGeom prst="roundRect">
            <a:avLst>
              <a:gd name="adj" fmla="val 772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56571" y="5188029"/>
            <a:ext cx="91440" cy="1420297"/>
          </a:xfrm>
          <a:prstGeom prst="roundRect">
            <a:avLst>
              <a:gd name="adj" fmla="val 31554"/>
            </a:avLst>
          </a:prstGeom>
          <a:solidFill>
            <a:srgbClr val="2D2E34"/>
          </a:solidFill>
          <a:ln/>
        </p:spPr>
      </p:sp>
      <p:sp>
        <p:nvSpPr>
          <p:cNvPr id="26" name="Text 23"/>
          <p:cNvSpPr/>
          <p:nvPr/>
        </p:nvSpPr>
        <p:spPr>
          <a:xfrm>
            <a:off x="7163157" y="5403175"/>
            <a:ext cx="218574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GameState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7163157" y="5847636"/>
            <a:ext cx="2910007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Aggregates Player and MapGrid for unified persistence.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10459522" y="5188029"/>
            <a:ext cx="3408998" cy="1420297"/>
          </a:xfrm>
          <a:prstGeom prst="roundRect">
            <a:avLst>
              <a:gd name="adj" fmla="val 772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436662" y="5188029"/>
            <a:ext cx="91440" cy="1420297"/>
          </a:xfrm>
          <a:prstGeom prst="roundRect">
            <a:avLst>
              <a:gd name="adj" fmla="val 31554"/>
            </a:avLst>
          </a:prstGeom>
          <a:solidFill>
            <a:srgbClr val="2D2E34"/>
          </a:solidFill>
          <a:ln/>
        </p:spPr>
      </p:sp>
      <p:sp>
        <p:nvSpPr>
          <p:cNvPr id="30" name="Text 27"/>
          <p:cNvSpPr/>
          <p:nvPr/>
        </p:nvSpPr>
        <p:spPr>
          <a:xfrm>
            <a:off x="10743248" y="5403175"/>
            <a:ext cx="218574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Serializable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10743248" y="5847636"/>
            <a:ext cx="2910126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 smtClean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contract </a:t>
            </a: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enabling save/load behaviour.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67063" y="864513"/>
            <a:ext cx="7391638" cy="479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Combat System and Entity Hierarchy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5619" y="1541502"/>
            <a:ext cx="5459730" cy="5422463"/>
          </a:xfrm>
          <a:prstGeom prst="roundRect">
            <a:avLst>
              <a:gd name="adj" fmla="val 467"/>
            </a:avLst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1314331" y="1673304"/>
            <a:ext cx="1917382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14331" y="2044660"/>
            <a:ext cx="5122307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331" y="2418278"/>
            <a:ext cx="4910018" cy="439745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03006" y="1689735"/>
            <a:ext cx="379571" cy="379571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6977777" y="1735753"/>
            <a:ext cx="230029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414379" y="1747718"/>
            <a:ext cx="1917382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Entity (Abstract)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14379" y="2119074"/>
            <a:ext cx="5956340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Shared combat data: name, HP, level, critical rate, and damage calculation.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903006" y="2608064"/>
            <a:ext cx="379571" cy="379571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6977777" y="2654082"/>
            <a:ext cx="230029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414379" y="2666048"/>
            <a:ext cx="1917382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Player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14379" y="3037403"/>
            <a:ext cx="5956340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Extends Entity; performs attack, use item, cast spell, equip item, apply modifier.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903006" y="3526393"/>
            <a:ext cx="379571" cy="379571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8" name="Text 15"/>
          <p:cNvSpPr/>
          <p:nvPr/>
        </p:nvSpPr>
        <p:spPr>
          <a:xfrm>
            <a:off x="6977777" y="3572411"/>
            <a:ext cx="230029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414379" y="3584377"/>
            <a:ext cx="1917382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Enemy (Abstract)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414379" y="3955732"/>
            <a:ext cx="5956340" cy="240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Extends Entity; each subclass implements its own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decideAction()</a:t>
            </a: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903006" y="4459962"/>
            <a:ext cx="379571" cy="379571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2" name="Text 19"/>
          <p:cNvSpPr/>
          <p:nvPr/>
        </p:nvSpPr>
        <p:spPr>
          <a:xfrm>
            <a:off x="6977777" y="4505980"/>
            <a:ext cx="230029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414379" y="4517946"/>
            <a:ext cx="2176701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Boss / Goblin / Knight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414379" y="4889302"/>
            <a:ext cx="5956340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Concrete enemy types with distinct </a:t>
            </a:r>
            <a:r>
              <a:rPr lang="en-US" sz="1300" dirty="0" smtClean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behaviour and stat profiles.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903006" y="5378291"/>
            <a:ext cx="379571" cy="379571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6" name="Text 23"/>
          <p:cNvSpPr/>
          <p:nvPr/>
        </p:nvSpPr>
        <p:spPr>
          <a:xfrm>
            <a:off x="6977777" y="5424309"/>
            <a:ext cx="230029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414379" y="5436275"/>
            <a:ext cx="2654260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BattleManager (Singleton)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414379" y="5807631"/>
            <a:ext cx="5956340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Processes turns and calculates final damage. One instance per active battle.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267063" y="7112198"/>
            <a:ext cx="12096155" cy="602218"/>
          </a:xfrm>
          <a:prstGeom prst="roundRect">
            <a:avLst>
              <a:gd name="adj" fmla="val 4203"/>
            </a:avLst>
          </a:prstGeom>
          <a:solidFill>
            <a:srgbClr val="B6D6FC"/>
          </a:solidFill>
          <a:ln/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775" y="7335441"/>
            <a:ext cx="210860" cy="16871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815346" y="7286149"/>
            <a:ext cx="11379160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CombatRules</a:t>
            </a: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separates balancing constants from battle execution logic, keeping BattleManager clean and configurable.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6409" y="1019889"/>
            <a:ext cx="7678817" cy="56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Items, Inventory, Store, and Loot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653058" y="1860828"/>
            <a:ext cx="5886331" cy="5786318"/>
          </a:xfrm>
          <a:prstGeom prst="roundRect">
            <a:avLst>
              <a:gd name="adj" fmla="val 516"/>
            </a:avLst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852130" y="2044303"/>
            <a:ext cx="2262545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30" y="2533531"/>
            <a:ext cx="5488186" cy="490716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89433" y="2067282"/>
            <a:ext cx="6952059" cy="4577239"/>
          </a:xfrm>
          <a:prstGeom prst="roundRect">
            <a:avLst>
              <a:gd name="adj" fmla="val 65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96125" y="2192536"/>
            <a:ext cx="3066455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Branch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568345" y="2192536"/>
            <a:ext cx="3066455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Classes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096125" y="2722364"/>
            <a:ext cx="3066455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Consumable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0568345" y="2722364"/>
            <a:ext cx="3066455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HealthPotion, ManaPotion, DamagePotion, DefensePotion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096125" y="3539133"/>
            <a:ext cx="3066455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Weapon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0568345" y="3539133"/>
            <a:ext cx="3066455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Sword, Axe, Dagger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096125" y="4068961"/>
            <a:ext cx="3066455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Armor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0568345" y="4068961"/>
            <a:ext cx="3066455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Chainmail, PlateArmor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7096125" y="4598789"/>
            <a:ext cx="3066455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Material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10568345" y="4598789"/>
            <a:ext cx="3066455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crafting or drop items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7096125" y="5128617"/>
            <a:ext cx="3066455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Factory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10568345" y="5128617"/>
            <a:ext cx="3066455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ItemFactory centralises all object creation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7096125" y="5945386"/>
            <a:ext cx="3066455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Loot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10568345" y="5945386"/>
            <a:ext cx="3066455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LootTable → DropEntry (probability) → LootBundle (XP, gold, items)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889433" y="6850975"/>
            <a:ext cx="6952059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Inventory and Store interact with Item polymorphically — no type-specific branching required in transaction logic.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42355" y="978098"/>
            <a:ext cx="4218265" cy="527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Magic System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08767" y="1744504"/>
            <a:ext cx="5933718" cy="5023723"/>
          </a:xfrm>
          <a:prstGeom prst="roundRect">
            <a:avLst>
              <a:gd name="adj" fmla="val 554"/>
            </a:avLst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794266" y="1887974"/>
            <a:ext cx="5562719" cy="258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266" y="2326243"/>
            <a:ext cx="4638794" cy="31612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69192" y="1923931"/>
            <a:ext cx="3433405" cy="1372553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77551" y="2132290"/>
            <a:ext cx="210907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Spell (Abstract)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077551" y="2555200"/>
            <a:ext cx="3016687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Shared fields: name, mana cost. Subclasses override </a:t>
            </a:r>
            <a:r>
              <a:rPr lang="en-US" sz="14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effect()</a:t>
            </a: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10462022" y="1923931"/>
            <a:ext cx="3433524" cy="1372553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70381" y="2132290"/>
            <a:ext cx="210907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DamageSpell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0670381" y="2555200"/>
            <a:ext cx="3016806" cy="51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Applies offensive damage on cast; overrides effect behaviour.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869192" y="3455908"/>
            <a:ext cx="3433405" cy="1616154"/>
          </a:xfrm>
          <a:prstGeom prst="roundRect">
            <a:avLst>
              <a:gd name="adj" fmla="val 172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77551" y="3664268"/>
            <a:ext cx="210907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HealingSpell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077551" y="4087178"/>
            <a:ext cx="3016687" cy="776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Restores player HP on cast; demonstrates polymorphism via same cast interface.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10462022" y="3455908"/>
            <a:ext cx="3433524" cy="1616154"/>
          </a:xfrm>
          <a:prstGeom prst="roundRect">
            <a:avLst>
              <a:gd name="adj" fmla="val 172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70381" y="3664268"/>
            <a:ext cx="210907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StatusEffect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0670381" y="4087178"/>
            <a:ext cx="3016806" cy="51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Applies conditions: poison, burn, freeze. Attached by a Spell on target.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869192" y="5231487"/>
            <a:ext cx="3433405" cy="1357313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77551" y="5439847"/>
            <a:ext cx="210907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Spellbook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7077551" y="5862757"/>
            <a:ext cx="3016687" cy="258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Stores spells learned by the Player.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10462022" y="5231487"/>
            <a:ext cx="3433524" cy="1357313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70381" y="5439847"/>
            <a:ext cx="282035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ArcaneLibrary (Singleton)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0670381" y="5862757"/>
            <a:ext cx="3016806" cy="51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 spell registry — retrieves and registers Spell objects.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742355" y="6947654"/>
            <a:ext cx="13145691" cy="700802"/>
          </a:xfrm>
          <a:prstGeom prst="roundRect">
            <a:avLst>
              <a:gd name="adj" fmla="val 3973"/>
            </a:avLst>
          </a:prstGeom>
          <a:solidFill>
            <a:srgbClr val="B6D6FC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854" y="7199948"/>
            <a:ext cx="231934" cy="185499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345287" y="7153394"/>
            <a:ext cx="12357259" cy="258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MagicRules</a:t>
            </a: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stores mana regeneration rates and status-effect probability constants, keeping Spell subclasses free of hard-coded balancing values.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61298" y="574119"/>
            <a:ext cx="1897499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2355" y="907971"/>
            <a:ext cx="6825139" cy="527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Skill System and Stat Modifiers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08767" y="1674376"/>
            <a:ext cx="5933718" cy="6044208"/>
          </a:xfrm>
          <a:prstGeom prst="roundRect">
            <a:avLst>
              <a:gd name="adj" fmla="val 469"/>
            </a:avLst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794266" y="1833801"/>
            <a:ext cx="210907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6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266" y="2276713"/>
            <a:ext cx="5562719" cy="446258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938724" y="1859459"/>
            <a:ext cx="278368" cy="2783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72243" y="1853803"/>
            <a:ext cx="210907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Skill (Abstract)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472243" y="2276713"/>
            <a:ext cx="6423303" cy="258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Common fields: name, required level. Subclasses define activation behaviour.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938724" y="2860179"/>
            <a:ext cx="278368" cy="2783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72243" y="2854523"/>
            <a:ext cx="210907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ActiveSkill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7472243" y="3277433"/>
            <a:ext cx="6423303" cy="258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Has a cost; manually activated during gameplay by the player.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938724" y="3860899"/>
            <a:ext cx="278368" cy="2783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72243" y="3855244"/>
            <a:ext cx="210907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PassiveSkill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7472243" y="4278154"/>
            <a:ext cx="6423303" cy="258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Holds a StatModifier; modifies player stats without repeated manual activation.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938724" y="4861620"/>
            <a:ext cx="278368" cy="2783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472243" y="4855964"/>
            <a:ext cx="210907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ScalingSkill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7472243" y="5278874"/>
            <a:ext cx="6423303" cy="258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Uses a multiplier to scale effect with player level or stat value.</a:t>
            </a:r>
            <a:endParaRPr lang="en-US" sz="14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938724" y="5862340"/>
            <a:ext cx="278368" cy="2783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472243" y="5856684"/>
            <a:ext cx="210907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StatModifier</a:t>
            </a:r>
            <a:endParaRPr lang="en-US" sz="1650" dirty="0"/>
          </a:p>
        </p:txBody>
      </p:sp>
      <p:sp>
        <p:nvSpPr>
          <p:cNvPr id="22" name="Text 14"/>
          <p:cNvSpPr/>
          <p:nvPr/>
        </p:nvSpPr>
        <p:spPr>
          <a:xfrm>
            <a:off x="7472243" y="6279594"/>
            <a:ext cx="6423303" cy="258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Stores affected stat type (damage / defense / speed) and delta value.</a:t>
            </a:r>
            <a:endParaRPr lang="en-US" sz="14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938724" y="6863060"/>
            <a:ext cx="278368" cy="2783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472243" y="6857405"/>
            <a:ext cx="2712244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SkillManager (Singleton)</a:t>
            </a:r>
            <a:endParaRPr lang="en-US" sz="1650" dirty="0"/>
          </a:p>
        </p:txBody>
      </p:sp>
      <p:sp>
        <p:nvSpPr>
          <p:cNvPr id="25" name="Text 16"/>
          <p:cNvSpPr/>
          <p:nvPr/>
        </p:nvSpPr>
        <p:spPr>
          <a:xfrm>
            <a:off x="7472243" y="7280315"/>
            <a:ext cx="6423303" cy="258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 controller for learning, unlocking, and applying skills.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70811"/>
            <a:ext cx="7599164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OOP Concepts Demonstrated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63798" y="1816179"/>
            <a:ext cx="6343412" cy="1515904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079659" y="2032040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Encapsulation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79659" y="2468285"/>
            <a:ext cx="5911691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Private and protected attributes accessed through public methods across all classes.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23071" y="1816179"/>
            <a:ext cx="6343531" cy="1515904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7638931" y="2032040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Inheritance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38931" y="2468285"/>
            <a:ext cx="5911810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Entity → Player/Enemy; Item → Consumable/Equippable/Material; Spell → DamageSpell/HealingSpell; Skill → Active/Passive/Scaling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3798" y="3547943"/>
            <a:ext cx="6343412" cy="1531144"/>
          </a:xfrm>
          <a:prstGeom prst="roundRect">
            <a:avLst>
              <a:gd name="adj" fmla="val 2116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1079659" y="3763804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Polymorphism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79659" y="4200049"/>
            <a:ext cx="5911691" cy="663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takeTurn()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7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decideAction()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7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use()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7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activate()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7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effect</a:t>
            </a:r>
            <a:r>
              <a:rPr lang="en-US" sz="1700" dirty="0" smtClean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700" dirty="0" smtClean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23071" y="3547943"/>
            <a:ext cx="6343531" cy="1531144"/>
          </a:xfrm>
          <a:prstGeom prst="roundRect">
            <a:avLst>
              <a:gd name="adj" fmla="val 2116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638931" y="3763804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Abstraction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638931" y="4200049"/>
            <a:ext cx="5911810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Entity, Enemy, Item, Spell, and Skill act as abstract base classes — preventing direct instantiation of incomplete concepts.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63798" y="5294948"/>
            <a:ext cx="6343412" cy="2163842"/>
          </a:xfrm>
          <a:prstGeom prst="roundRect">
            <a:avLst>
              <a:gd name="adj" fmla="val 1497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659" y="5510808"/>
            <a:ext cx="3574852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Composition &amp; Aggregation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079659" y="5947053"/>
            <a:ext cx="5911691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Player owns Inventory, Spellbook, Weapon, Armor, StatModifier. MapGrid contains Rooms. LootTable contains DropEntry objects.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23071" y="5294948"/>
            <a:ext cx="6343531" cy="2163842"/>
          </a:xfrm>
          <a:prstGeom prst="roundRect">
            <a:avLst>
              <a:gd name="adj" fmla="val 1497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7638931" y="5510808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Design Patterns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638931" y="5947053"/>
            <a:ext cx="5911810" cy="129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Singleton: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BattleManager, ArcaneLibrary, SkillManager, ItemFactory, WorldGenerator.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Factory: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ItemFactory creates all weapon, armour, potion, and material instances.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382" y="566857"/>
            <a:ext cx="5579864" cy="546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Demo — Execution Flow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69382" y="1455896"/>
            <a:ext cx="13091636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following sequence traces a complete gameplay session from initialisation through combat resolution and persistence, mapping each step to its responsible class or method.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9382" y="2194084"/>
            <a:ext cx="384691" cy="240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9382" y="2498050"/>
            <a:ext cx="6460212" cy="2286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769382" y="2639854"/>
            <a:ext cx="472118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GameState initialises Player and MapGrid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9382" y="3015853"/>
            <a:ext cx="6460212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Creates or loads a saved session.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00806" y="2194084"/>
            <a:ext cx="384691" cy="240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00806" y="2498050"/>
            <a:ext cx="6460212" cy="2286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0" name="Text 8"/>
          <p:cNvSpPr/>
          <p:nvPr/>
        </p:nvSpPr>
        <p:spPr>
          <a:xfrm>
            <a:off x="7400806" y="2639854"/>
            <a:ext cx="414837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WorldGenerator builds the dungeon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00806" y="3015853"/>
            <a:ext cx="6460212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Singleton populates MapGrid with Room objects.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9382" y="3604022"/>
            <a:ext cx="384691" cy="240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9382" y="3907988"/>
            <a:ext cx="6460212" cy="2286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4" name="Text 12"/>
          <p:cNvSpPr/>
          <p:nvPr/>
        </p:nvSpPr>
        <p:spPr>
          <a:xfrm>
            <a:off x="769382" y="4049792"/>
            <a:ext cx="418707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Player moves; Coordinate is updated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69382" y="4425791"/>
            <a:ext cx="6460212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MapGrid resolves the target Room.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00806" y="3604022"/>
            <a:ext cx="384691" cy="240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00806" y="3907988"/>
            <a:ext cx="6460212" cy="2286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8" name="Text 16"/>
          <p:cNvSpPr/>
          <p:nvPr/>
        </p:nvSpPr>
        <p:spPr>
          <a:xfrm>
            <a:off x="7400806" y="4049792"/>
            <a:ext cx="384202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Room::enter() triggers interaction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00806" y="4425791"/>
            <a:ext cx="6460212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CombatRoom starts BattleManager if an enemy is present.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9382" y="5013960"/>
            <a:ext cx="384691" cy="240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9382" y="5317927"/>
            <a:ext cx="6460212" cy="2286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22" name="Text 20"/>
          <p:cNvSpPr/>
          <p:nvPr/>
        </p:nvSpPr>
        <p:spPr>
          <a:xfrm>
            <a:off x="769382" y="5459730"/>
            <a:ext cx="357461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BattleManager processes turns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69382" y="5835729"/>
            <a:ext cx="6460212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Player selects attack / item / spell / skill; Enemy calls decideAction().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00806" y="5013960"/>
            <a:ext cx="384691" cy="240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400806" y="5317927"/>
            <a:ext cx="6460212" cy="2286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26" name="Text 24"/>
          <p:cNvSpPr/>
          <p:nvPr/>
        </p:nvSpPr>
        <p:spPr>
          <a:xfrm>
            <a:off x="7400806" y="5459730"/>
            <a:ext cx="305312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Enemy defeat → dropLoot()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400806" y="5835729"/>
            <a:ext cx="6460212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LootTable::roll() returns a LootBundle (XP, gold, items).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69382" y="6423898"/>
            <a:ext cx="384691" cy="240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07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69382" y="6727865"/>
            <a:ext cx="6460212" cy="2286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30" name="Text 28"/>
          <p:cNvSpPr/>
          <p:nvPr/>
        </p:nvSpPr>
        <p:spPr>
          <a:xfrm>
            <a:off x="769382" y="6869668"/>
            <a:ext cx="280225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Inventory receives items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69382" y="7245668"/>
            <a:ext cx="6460212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Capacity check enforced; Store handles buy/sell interaction.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400806" y="6423898"/>
            <a:ext cx="384691" cy="240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08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400806" y="6727865"/>
            <a:ext cx="6460212" cy="2286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34" name="Text 32"/>
          <p:cNvSpPr/>
          <p:nvPr/>
        </p:nvSpPr>
        <p:spPr>
          <a:xfrm>
            <a:off x="7400806" y="6869668"/>
            <a:ext cx="3393877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GameState handles save/load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400806" y="7245668"/>
            <a:ext cx="6460212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Serializable contract persists Player and MapGrid state.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6409" y="595432"/>
            <a:ext cx="6757630" cy="56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Work Division by Subsystem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6409" y="1528167"/>
            <a:ext cx="13037582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Responsibilities were allocated by connected subsystem rather than arbitrary class assignment, ensuring each member could design cohesive intra-module relationships independently.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6409" y="2308503"/>
            <a:ext cx="13037582" cy="4047411"/>
          </a:xfrm>
          <a:prstGeom prst="roundRect">
            <a:avLst>
              <a:gd name="adj" fmla="val 73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3221" y="2433757"/>
            <a:ext cx="2462927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 Member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71913" y="2433757"/>
            <a:ext cx="9755386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System Responsibilities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03221" y="2963585"/>
            <a:ext cx="2462927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Abdul Aziz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871913" y="2963585"/>
            <a:ext cx="9755386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GameState, Coordinate, WorldGenerator, MapGrid, Room, EmptyRoom, CombatRoom, SaveRoom, Inventory, Store, Serializable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03221" y="3780353"/>
            <a:ext cx="2462927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Muharib Abdullah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871913" y="3780353"/>
            <a:ext cx="9755386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BattleManager (Singleton), Entity, Player, Enemy, CombatRules, Boss, Goblin, Knight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03221" y="4310182"/>
            <a:ext cx="2462927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M. Ameer Suhail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71913" y="4310182"/>
            <a:ext cx="9755386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ArcaneLibrary (Singleton), Spell, MagicRules, DamageSpell, HealingSpell, StatusEffect, Spellbook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03221" y="4840010"/>
            <a:ext cx="2462927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Ahmad Siddique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871913" y="4840010"/>
            <a:ext cx="9755386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ItemRules, Item, Consumable, HealthPotion, ManaPotion, DamagePotion, DefensePotion, Material, Equippable, Weapon, Sword, Axe, Dagger, Armor, Chainmail, PlateArmor, </a:t>
            </a:r>
            <a:r>
              <a:rPr lang="en-US" sz="1550" dirty="0" err="1" smtClean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ItemFactory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03221" y="5656778"/>
            <a:ext cx="2462927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M. Asad Rauf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871913" y="5656778"/>
            <a:ext cx="9755386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SkillManager (Singleton), Skill, SkillRules, ActiveSkill, PassiveSkill, ScalingSkill, LootTable, DropEntry, StatModifier, LootBundle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96409" y="6562368"/>
            <a:ext cx="13037582" cy="1071801"/>
          </a:xfrm>
          <a:prstGeom prst="roundRect">
            <a:avLst>
              <a:gd name="adj" fmla="val 2786"/>
            </a:avLst>
          </a:prstGeom>
          <a:solidFill>
            <a:srgbClr val="B6FCB8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482" y="6842760"/>
            <a:ext cx="248841" cy="19907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43395" y="6795611"/>
            <a:ext cx="12191524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subsystem boundary aligns with a logical OOP module boundary — members owned the full vertical slice of their system from base class to manager.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83682"/>
            <a:ext cx="8452128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Improvements and Future Scope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2036921"/>
            <a:ext cx="2761774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Gameplay Extensions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2559487"/>
            <a:ext cx="6187916" cy="1876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Additional enemy types by extending </a:t>
            </a:r>
            <a:r>
              <a:rPr lang="en-US" sz="17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Enemy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overriding </a:t>
            </a:r>
            <a:r>
              <a:rPr lang="en-US" sz="17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decideAction()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Expanded spell catalogue and status effect variety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More active, passive, and scaling skill definitions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Branching narrative choices and multiple dungeon biomes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6305" y="2036921"/>
            <a:ext cx="3173849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Technical Improvements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586305" y="2559487"/>
            <a:ext cx="6187916" cy="324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GUI and animation layer as a separate presentation module — no change to core logic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Sound effects integrated at the BattleManager and Room event level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Multiple save slots and configurable difficulty settings via </a:t>
            </a:r>
            <a:r>
              <a:rPr lang="en-US" sz="17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CombatRules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7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MagicRules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</a:t>
            </a:r>
            <a:r>
              <a:rPr lang="en-US" sz="17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SkillRules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Combat balancing via LootTable probability tuning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New items creatable through </a:t>
            </a:r>
            <a:r>
              <a:rPr lang="en-US" sz="17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ItemFactory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without modifying existing classes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3798" y="6126004"/>
            <a:ext cx="12902803" cy="1219914"/>
          </a:xfrm>
          <a:prstGeom prst="roundRect">
            <a:avLst>
              <a:gd name="adj" fmla="val 2656"/>
            </a:avLst>
          </a:prstGeom>
          <a:solidFill>
            <a:srgbClr val="D6D7D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659" y="6435447"/>
            <a:ext cx="269915" cy="2158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65434" y="6395799"/>
            <a:ext cx="11985308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modular OOP architecture means most extensions require adding new subclasses — not modifying existing ones — aligning with the Open/Closed Principle.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42499"/>
            <a:ext cx="4908471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Conclusion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1987868"/>
            <a:ext cx="129028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Dungeon RPG demonstrates how OOP principles can organise a complex, multi-system game into reusable, maintainable, and independently testable modules. The design is both a functional game concept and a rigorous OOP engineering exercise.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3798" y="2878693"/>
            <a:ext cx="12902803" cy="3031808"/>
          </a:xfrm>
          <a:prstGeom prst="roundRect">
            <a:avLst>
              <a:gd name="adj" fmla="val 1069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863798" y="2878693"/>
            <a:ext cx="6451402" cy="1515904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1079659" y="3094553"/>
            <a:ext cx="2753916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Clear Responsibilities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79659" y="3530798"/>
            <a:ext cx="6019681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class owns a single concern — no logic mixing across modules.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0" y="2878693"/>
            <a:ext cx="6451402" cy="151590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2878693"/>
            <a:ext cx="30480" cy="1515904"/>
          </a:xfrm>
          <a:prstGeom prst="roundRect">
            <a:avLst>
              <a:gd name="adj" fmla="val 106288"/>
            </a:avLst>
          </a:prstGeom>
          <a:solidFill>
            <a:srgbClr val="D8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531060" y="3094553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Deep Inheritance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531060" y="3530798"/>
            <a:ext cx="6019681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Abstract base classes eliminate duplication across Entity, Item, Spell, and Skill hierarchies.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3798" y="4394597"/>
            <a:ext cx="6451402" cy="151590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63798" y="4394597"/>
            <a:ext cx="6451402" cy="30480"/>
          </a:xfrm>
          <a:prstGeom prst="roundRect">
            <a:avLst>
              <a:gd name="adj" fmla="val 106288"/>
            </a:avLst>
          </a:prstGeom>
          <a:solidFill>
            <a:srgbClr val="D8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659" y="4610457"/>
            <a:ext cx="261116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Polymorphic Design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79659" y="5046702"/>
            <a:ext cx="6019681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Uniform interfaces dispatch correctly to concrete implementations at runtime.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0" y="4394597"/>
            <a:ext cx="6451402" cy="151590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4394597"/>
            <a:ext cx="30480" cy="1515904"/>
          </a:xfrm>
          <a:prstGeom prst="roundRect">
            <a:avLst>
              <a:gd name="adj" fmla="val 106288"/>
            </a:avLst>
          </a:prstGeom>
          <a:solidFill>
            <a:srgbClr val="D8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4394597"/>
            <a:ext cx="6451402" cy="30480"/>
          </a:xfrm>
          <a:prstGeom prst="roundRect">
            <a:avLst>
              <a:gd name="adj" fmla="val 106288"/>
            </a:avLst>
          </a:prstGeom>
          <a:solidFill>
            <a:srgbClr val="D8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7531060" y="4610457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Abadi" panose="020B0604020104020204" pitchFamily="34" charset="0"/>
                <a:ea typeface="Montserrat Bold" pitchFamily="34" charset="-122"/>
                <a:cs typeface="Montserrat Bold" pitchFamily="34" charset="-120"/>
              </a:rPr>
              <a:t>Design Patterns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531060" y="5046702"/>
            <a:ext cx="6019681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Singleton managers and Factory creation enforce structural discipline throughout the system.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87648" y="6396276"/>
            <a:ext cx="1257895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UML shows how modules communicate while keeping responsibilities separated — making this project extensible, debuggable, and ready for future development.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63798" y="6153388"/>
            <a:ext cx="30480" cy="1133713"/>
          </a:xfrm>
          <a:prstGeom prst="rect">
            <a:avLst/>
          </a:prstGeom>
          <a:solidFill>
            <a:srgbClr val="2D2E3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1406</Words>
  <Application>Microsoft Office PowerPoint</Application>
  <PresentationFormat>Custom</PresentationFormat>
  <Paragraphs>200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Montserrat Light</vt:lpstr>
      <vt:lpstr>Arial</vt:lpstr>
      <vt:lpstr>Montserrat Bold</vt:lpstr>
      <vt:lpstr>Source Sans 3</vt:lpstr>
      <vt:lpstr>Calibri</vt:lpstr>
      <vt:lpstr>Abadi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lastModifiedBy>Admin</cp:lastModifiedBy>
  <cp:revision>8</cp:revision>
  <dcterms:created xsi:type="dcterms:W3CDTF">2026-04-26T15:56:13Z</dcterms:created>
  <dcterms:modified xsi:type="dcterms:W3CDTF">2026-04-27T15:32:35Z</dcterms:modified>
</cp:coreProperties>
</file>